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906000" cy="5581650"/>
  <p:notesSz cx="9906000" cy="55816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7711" y="1720469"/>
            <a:ext cx="8360727" cy="116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75422" y="3107944"/>
            <a:ext cx="6885305" cy="138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1807" y="1276477"/>
            <a:ext cx="4278725" cy="3662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65617" y="1276477"/>
            <a:ext cx="4278725" cy="3662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6494" y="1569857"/>
            <a:ext cx="449618" cy="3505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6324" y="983065"/>
            <a:ext cx="457239" cy="3505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3224" y="533445"/>
            <a:ext cx="2438609" cy="45342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4289" y="583922"/>
            <a:ext cx="5695950" cy="856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807" y="1276477"/>
            <a:ext cx="8852535" cy="3662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44291" y="5161407"/>
            <a:ext cx="3147568" cy="27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1807" y="5161407"/>
            <a:ext cx="2262314" cy="27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82028" y="5161407"/>
            <a:ext cx="2262314" cy="27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7526" y="717613"/>
            <a:ext cx="2849880" cy="2512695"/>
          </a:xfrm>
          <a:prstGeom prst="rect"/>
        </p:spPr>
        <p:txBody>
          <a:bodyPr wrap="square" lIns="0" tIns="113664" rIns="0" bIns="0" rtlCol="0" vert="horz">
            <a:spAutoFit/>
          </a:bodyPr>
          <a:lstStyle/>
          <a:p>
            <a:pPr marL="12700" marR="5080" indent="387985">
              <a:lnSpc>
                <a:spcPct val="86000"/>
              </a:lnSpc>
              <a:spcBef>
                <a:spcPts val="894"/>
              </a:spcBef>
            </a:pPr>
            <a:r>
              <a:rPr dirty="0" sz="4750" spc="-290"/>
              <a:t>Mitra </a:t>
            </a:r>
            <a:r>
              <a:rPr dirty="0" sz="4400" spc="-35"/>
              <a:t>Hyperlocal </a:t>
            </a:r>
            <a:r>
              <a:rPr dirty="0" sz="4550" spc="-140"/>
              <a:t>Assistant</a:t>
            </a:r>
            <a:r>
              <a:rPr dirty="0" sz="4550" spc="-90"/>
              <a:t> </a:t>
            </a:r>
            <a:r>
              <a:rPr dirty="0" sz="4550" spc="-25"/>
              <a:t>for</a:t>
            </a:r>
            <a:endParaRPr sz="4550"/>
          </a:p>
          <a:p>
            <a:pPr marL="560705">
              <a:lnSpc>
                <a:spcPts val="4650"/>
              </a:lnSpc>
            </a:pPr>
            <a:r>
              <a:rPr dirty="0" sz="4700" spc="-30"/>
              <a:t>Farmers</a:t>
            </a:r>
            <a:endParaRPr sz="4700"/>
          </a:p>
        </p:txBody>
      </p:sp>
      <p:sp>
        <p:nvSpPr>
          <p:cNvPr id="3" name="object 3" descr=""/>
          <p:cNvSpPr txBox="1"/>
          <p:nvPr/>
        </p:nvSpPr>
        <p:spPr>
          <a:xfrm>
            <a:off x="3014902" y="3231162"/>
            <a:ext cx="381635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20470" marR="5080" indent="-1208405">
              <a:lnSpc>
                <a:spcPct val="115799"/>
              </a:lnSpc>
              <a:spcBef>
                <a:spcPts val="100"/>
              </a:spcBef>
            </a:pPr>
            <a:r>
              <a:rPr dirty="0" sz="950" spc="-85">
                <a:solidFill>
                  <a:srgbClr val="909090"/>
                </a:solidFill>
                <a:latin typeface="Arial MT"/>
                <a:cs typeface="Arial MT"/>
              </a:rPr>
              <a:t>Sm</a:t>
            </a:r>
            <a:r>
              <a:rPr dirty="0" sz="950" spc="-13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47474"/>
                </a:solidFill>
                <a:latin typeface="Arial MT"/>
                <a:cs typeface="Arial MT"/>
              </a:rPr>
              <a:t>art</a:t>
            </a:r>
            <a:r>
              <a:rPr dirty="0" sz="950" spc="15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950" spc="-30">
                <a:solidFill>
                  <a:srgbClr val="7C7C7C"/>
                </a:solidFill>
                <a:latin typeface="Arial MT"/>
                <a:cs typeface="Arial MT"/>
              </a:rPr>
              <a:t>Farm</a:t>
            </a:r>
            <a:r>
              <a:rPr dirty="0" sz="950" spc="-145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C7C7C"/>
                </a:solidFill>
                <a:latin typeface="Arial MT"/>
                <a:cs typeface="Arial MT"/>
              </a:rPr>
              <a:t>ing</a:t>
            </a:r>
            <a:r>
              <a:rPr dirty="0" sz="950" spc="114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45454"/>
                </a:solidFill>
                <a:latin typeface="Arial MT"/>
                <a:cs typeface="Arial MT"/>
              </a:rPr>
              <a:t>Support</a:t>
            </a:r>
            <a:r>
              <a:rPr dirty="0" sz="950" spc="15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950" spc="-15">
                <a:solidFill>
                  <a:srgbClr val="666666"/>
                </a:solidFill>
                <a:latin typeface="Arial MT"/>
                <a:cs typeface="Arial MT"/>
              </a:rPr>
              <a:t>us</a:t>
            </a:r>
            <a:r>
              <a:rPr dirty="0" sz="950" spc="-14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 MT"/>
                <a:cs typeface="Arial MT"/>
              </a:rPr>
              <a:t>in</a:t>
            </a:r>
            <a:r>
              <a:rPr dirty="0" sz="950" spc="-1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08080"/>
                </a:solidFill>
                <a:latin typeface="Arial MT"/>
                <a:cs typeface="Arial MT"/>
              </a:rPr>
              <a:t>g</a:t>
            </a:r>
            <a:r>
              <a:rPr dirty="0" sz="950" spc="9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Artificial</a:t>
            </a:r>
            <a:r>
              <a:rPr dirty="0" sz="950" spc="15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D6D6D"/>
                </a:solidFill>
                <a:latin typeface="Arial MT"/>
                <a:cs typeface="Arial MT"/>
              </a:rPr>
              <a:t>lnte</a:t>
            </a:r>
            <a:r>
              <a:rPr dirty="0" sz="950" spc="-15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E6E6E"/>
                </a:solidFill>
                <a:latin typeface="Arial MT"/>
                <a:cs typeface="Arial MT"/>
              </a:rPr>
              <a:t>lligence.</a:t>
            </a:r>
            <a:r>
              <a:rPr dirty="0" sz="950" spc="18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950" spc="-100">
                <a:solidFill>
                  <a:srgbClr val="646464"/>
                </a:solidFill>
                <a:latin typeface="Arial MT"/>
                <a:cs typeface="Arial MT"/>
              </a:rPr>
              <a:t>PRESE </a:t>
            </a:r>
            <a:r>
              <a:rPr dirty="0" sz="950" spc="-90">
                <a:solidFill>
                  <a:srgbClr val="494949"/>
                </a:solidFill>
                <a:latin typeface="Arial MT"/>
                <a:cs typeface="Arial MT"/>
              </a:rPr>
              <a:t>MTE</a:t>
            </a:r>
            <a:r>
              <a:rPr dirty="0" sz="950" spc="-13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777777"/>
                </a:solidFill>
                <a:latin typeface="Arial MT"/>
                <a:cs typeface="Arial MT"/>
              </a:rPr>
              <a:t>D</a:t>
            </a:r>
            <a:r>
              <a:rPr dirty="0" sz="950" spc="114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6E6E6E"/>
                </a:solidFill>
                <a:latin typeface="Arial MT"/>
                <a:cs typeface="Arial MT"/>
              </a:rPr>
              <a:t>BY </a:t>
            </a:r>
            <a:r>
              <a:rPr dirty="0" sz="950" spc="-130">
                <a:solidFill>
                  <a:srgbClr val="797979"/>
                </a:solidFill>
                <a:latin typeface="Arial MT"/>
                <a:cs typeface="Arial MT"/>
              </a:rPr>
              <a:t>D</a:t>
            </a:r>
            <a:r>
              <a:rPr dirty="0" sz="950" spc="-165">
                <a:solidFill>
                  <a:srgbClr val="79797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B5B5B"/>
                </a:solidFill>
                <a:latin typeface="Arial MT"/>
                <a:cs typeface="Arial MT"/>
              </a:rPr>
              <a:t>ude</a:t>
            </a:r>
            <a:r>
              <a:rPr dirty="0" sz="950" spc="9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50" spc="-45">
                <a:solidFill>
                  <a:srgbClr val="5B5B5B"/>
                </a:solidFill>
                <a:latin typeface="Arial MT"/>
                <a:cs typeface="Arial MT"/>
              </a:rPr>
              <a:t>ARAVIND,</a:t>
            </a:r>
            <a:r>
              <a:rPr dirty="0" sz="950" spc="11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6B6B"/>
                </a:solidFill>
                <a:latin typeface="Arial MT"/>
                <a:cs typeface="Arial MT"/>
              </a:rPr>
              <a:t>NMREC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10507" y="515666"/>
            <a:ext cx="6667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81818"/>
                </a:solidFill>
                <a:latin typeface="Arial MT"/>
                <a:cs typeface="Arial MT"/>
              </a:rPr>
              <a:t>Problem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2696" y="751906"/>
            <a:ext cx="214947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70">
                <a:latin typeface="Cambria"/>
                <a:cs typeface="Cambria"/>
              </a:rPr>
              <a:t>Problem</a:t>
            </a:r>
            <a:r>
              <a:rPr dirty="0" sz="2500" spc="-30">
                <a:latin typeface="Cambria"/>
                <a:cs typeface="Cambria"/>
              </a:rPr>
              <a:t> </a:t>
            </a:r>
            <a:r>
              <a:rPr dirty="0" sz="2500" spc="-100">
                <a:latin typeface="Cambria"/>
                <a:cs typeface="Cambria"/>
              </a:rPr>
              <a:t>fii</a:t>
            </a:r>
            <a:r>
              <a:rPr dirty="0" sz="2500" spc="-40">
                <a:latin typeface="Cambria"/>
                <a:cs typeface="Cambria"/>
              </a:rPr>
              <a:t> </a:t>
            </a:r>
            <a:r>
              <a:rPr dirty="0" sz="2500" spc="-80">
                <a:latin typeface="Cambria"/>
                <a:cs typeface="Cambria"/>
              </a:rPr>
              <a:t>Need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88919" y="1223117"/>
            <a:ext cx="59086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B6B6B"/>
                </a:solidFill>
                <a:latin typeface="Arial MT"/>
                <a:cs typeface="Arial MT"/>
              </a:rPr>
              <a:t>Key</a:t>
            </a:r>
            <a:r>
              <a:rPr dirty="0" sz="1100" spc="22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6B6B6B"/>
                </a:solidFill>
                <a:latin typeface="Arial MT"/>
                <a:cs typeface="Arial MT"/>
              </a:rPr>
              <a:t>challenges</a:t>
            </a:r>
            <a:r>
              <a:rPr dirty="0" sz="1100" spc="24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76767"/>
                </a:solidFill>
                <a:latin typeface="Arial MT"/>
                <a:cs typeface="Arial MT"/>
              </a:rPr>
              <a:t>ancl</a:t>
            </a:r>
            <a:r>
              <a:rPr dirty="0" sz="1100" spc="24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57575"/>
                </a:solidFill>
                <a:latin typeface="Arial MT"/>
                <a:cs typeface="Arial MT"/>
              </a:rPr>
              <a:t>tra</a:t>
            </a:r>
            <a:r>
              <a:rPr dirty="0" sz="1100" spc="-10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6B6B6B"/>
                </a:solidFill>
                <a:latin typeface="Arial MT"/>
                <a:cs typeface="Arial MT"/>
              </a:rPr>
              <a:t>ditiona</a:t>
            </a:r>
            <a:r>
              <a:rPr dirty="0" sz="1100" spc="-14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C7C7C"/>
                </a:solidFill>
                <a:latin typeface="Arial MT"/>
                <a:cs typeface="Arial MT"/>
              </a:rPr>
              <a:t>I</a:t>
            </a:r>
            <a:r>
              <a:rPr dirty="0" sz="1100" spc="90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57575"/>
                </a:solidFill>
                <a:latin typeface="Arial MT"/>
                <a:cs typeface="Arial MT"/>
              </a:rPr>
              <a:t>m</a:t>
            </a:r>
            <a:r>
              <a:rPr dirty="0" sz="1100" spc="-145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46464"/>
                </a:solidFill>
                <a:latin typeface="Arial MT"/>
                <a:cs typeface="Arial MT"/>
              </a:rPr>
              <a:t>eth</a:t>
            </a:r>
            <a:r>
              <a:rPr dirty="0" sz="1100" spc="-13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76767"/>
                </a:solidFill>
                <a:latin typeface="Arial MT"/>
                <a:cs typeface="Arial MT"/>
              </a:rPr>
              <a:t>ads</a:t>
            </a:r>
            <a:r>
              <a:rPr dirty="0" sz="1100" spc="21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676767"/>
                </a:solidFill>
                <a:latin typeface="Arial MT"/>
                <a:cs typeface="Arial MT"/>
              </a:rPr>
              <a:t>leading</a:t>
            </a:r>
            <a:r>
              <a:rPr dirty="0" sz="1100" spc="26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D6D6D"/>
                </a:solidFill>
                <a:latin typeface="Arial MT"/>
                <a:cs typeface="Arial MT"/>
              </a:rPr>
              <a:t>to</a:t>
            </a:r>
            <a:r>
              <a:rPr dirty="0" sz="1100" spc="195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B5B5B"/>
                </a:solidFill>
                <a:latin typeface="Arial MT"/>
                <a:cs typeface="Arial MT"/>
              </a:rPr>
              <a:t>fin</a:t>
            </a:r>
            <a:r>
              <a:rPr dirty="0" sz="1100" spc="-15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E6E6E"/>
                </a:solidFill>
                <a:latin typeface="Arial MT"/>
                <a:cs typeface="Arial MT"/>
              </a:rPr>
              <a:t>an</a:t>
            </a:r>
            <a:r>
              <a:rPr dirty="0" sz="1100" spc="-15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666666"/>
                </a:solidFill>
                <a:latin typeface="Arial MT"/>
                <a:cs typeface="Arial MT"/>
              </a:rPr>
              <a:t>cial</a:t>
            </a:r>
            <a:r>
              <a:rPr dirty="0" sz="1100" spc="2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6B6B6B"/>
                </a:solidFill>
                <a:latin typeface="Arial MT"/>
                <a:cs typeface="Arial MT"/>
              </a:rPr>
              <a:t>losses</a:t>
            </a:r>
            <a:r>
              <a:rPr dirty="0" sz="1100" spc="15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676767"/>
                </a:solidFill>
                <a:latin typeface="Arial MT"/>
                <a:cs typeface="Arial MT"/>
              </a:rPr>
              <a:t>i</a:t>
            </a:r>
            <a:r>
              <a:rPr dirty="0" sz="1100" spc="55">
                <a:solidFill>
                  <a:srgbClr val="696969"/>
                </a:solidFill>
                <a:latin typeface="Arial MT"/>
                <a:cs typeface="Arial MT"/>
              </a:rPr>
              <a:t>n</a:t>
            </a:r>
            <a:r>
              <a:rPr dirty="0" sz="1100" spc="14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5D5D5D"/>
                </a:solidFill>
                <a:latin typeface="Arial MT"/>
                <a:cs typeface="Arial MT"/>
              </a:rPr>
              <a:t>rural</a:t>
            </a:r>
            <a:r>
              <a:rPr dirty="0" sz="1100" spc="16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100" spc="75">
                <a:solidFill>
                  <a:srgbClr val="6B6B6B"/>
                </a:solidFill>
                <a:latin typeface="Arial MT"/>
                <a:cs typeface="Arial MT"/>
              </a:rPr>
              <a:t>farm</a:t>
            </a:r>
            <a:r>
              <a:rPr dirty="0" sz="1100" spc="-16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6D6D6D"/>
                </a:solidFill>
                <a:latin typeface="Arial MT"/>
                <a:cs typeface="Arial MT"/>
              </a:rPr>
              <a:t>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73082" y="2189671"/>
            <a:ext cx="2271395" cy="589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1270">
              <a:lnSpc>
                <a:spcPct val="116700"/>
              </a:lnSpc>
              <a:spcBef>
                <a:spcPts val="130"/>
              </a:spcBef>
            </a:pPr>
            <a:r>
              <a:rPr dirty="0" sz="1050">
                <a:solidFill>
                  <a:srgbClr val="161616"/>
                </a:solidFill>
                <a:latin typeface="Arial MT"/>
                <a:cs typeface="Arial MT"/>
              </a:rPr>
              <a:t>Lack</a:t>
            </a:r>
            <a:r>
              <a:rPr dirty="0" sz="1050" spc="8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dirty="0" sz="1050" spc="2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050" spc="-60" i="1">
                <a:latin typeface="Arial"/>
                <a:cs typeface="Arial"/>
              </a:rPr>
              <a:t>Neo/-</a:t>
            </a:r>
            <a:r>
              <a:rPr dirty="0" sz="1050" spc="-20" i="1">
                <a:latin typeface="Arial"/>
                <a:cs typeface="Arial"/>
              </a:rPr>
              <a:t>lime</a:t>
            </a:r>
            <a:r>
              <a:rPr dirty="0" sz="1050" spc="95" i="1"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82828"/>
                </a:solidFill>
                <a:latin typeface="Arial MT"/>
                <a:cs typeface="Arial MT"/>
              </a:rPr>
              <a:t>crop</a:t>
            </a:r>
            <a:r>
              <a:rPr dirty="0" sz="1050" spc="3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050" spc="-10" i="1">
                <a:solidFill>
                  <a:srgbClr val="1D1D1D"/>
                </a:solidFill>
                <a:latin typeface="Arial"/>
                <a:cs typeface="Arial"/>
              </a:rPr>
              <a:t>price </a:t>
            </a:r>
            <a:r>
              <a:rPr dirty="0" sz="1050" i="1">
                <a:solidFill>
                  <a:srgbClr val="232323"/>
                </a:solidFill>
                <a:latin typeface="Arial"/>
                <a:cs typeface="Arial"/>
              </a:rPr>
              <a:t>information</a:t>
            </a:r>
            <a:r>
              <a:rPr dirty="0" sz="1050" spc="14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F0F0F"/>
                </a:solidFill>
                <a:latin typeface="Arial MT"/>
                <a:cs typeface="Arial MT"/>
              </a:rPr>
              <a:t>limited</a:t>
            </a:r>
            <a:r>
              <a:rPr dirty="0" sz="10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awareness</a:t>
            </a:r>
            <a:r>
              <a:rPr dirty="0" sz="1050" spc="100">
                <a:latin typeface="Arial MT"/>
                <a:cs typeface="Arial MT"/>
              </a:rPr>
              <a:t> </a:t>
            </a:r>
            <a:r>
              <a:rPr dirty="0" sz="1050" spc="-25">
                <a:latin typeface="Arial MT"/>
                <a:cs typeface="Arial MT"/>
              </a:rPr>
              <a:t>of </a:t>
            </a:r>
            <a:r>
              <a:rPr dirty="0" sz="1050" spc="-20" i="1">
                <a:solidFill>
                  <a:srgbClr val="181818"/>
                </a:solidFill>
                <a:latin typeface="Arial"/>
                <a:cs typeface="Arial"/>
              </a:rPr>
              <a:t>government</a:t>
            </a:r>
            <a:r>
              <a:rPr dirty="0" sz="1050" spc="70" i="1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181818"/>
                </a:solidFill>
                <a:latin typeface="Arial"/>
                <a:cs typeface="Arial"/>
              </a:rPr>
              <a:t>schemes.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74191" y="3896698"/>
            <a:ext cx="2130425" cy="5822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4604" marR="5080" indent="-2540">
              <a:lnSpc>
                <a:spcPct val="116700"/>
              </a:lnSpc>
              <a:spcBef>
                <a:spcPts val="70"/>
              </a:spcBef>
            </a:pPr>
            <a:r>
              <a:rPr dirty="0" sz="1050">
                <a:latin typeface="Arial MT"/>
                <a:cs typeface="Arial MT"/>
              </a:rPr>
              <a:t>Reliance</a:t>
            </a:r>
            <a:r>
              <a:rPr dirty="0" sz="1050" spc="50"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dirty="0" sz="105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F0F0F"/>
                </a:solidFill>
                <a:latin typeface="Arial MT"/>
                <a:cs typeface="Arial MT"/>
              </a:rPr>
              <a:t>calling</a:t>
            </a:r>
            <a:r>
              <a:rPr dirty="0" sz="1050" spc="9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local</a:t>
            </a:r>
            <a:r>
              <a:rPr dirty="0" sz="1050" spc="7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markets </a:t>
            </a:r>
            <a:r>
              <a:rPr dirty="0" sz="105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dirty="0" sz="1050" spc="10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observing</a:t>
            </a:r>
            <a:r>
              <a:rPr dirty="0" sz="1050" spc="125"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dirty="0" sz="1050" spc="1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80808"/>
                </a:solidFill>
                <a:latin typeface="Arial MT"/>
                <a:cs typeface="Arial MT"/>
              </a:rPr>
              <a:t>sky</a:t>
            </a:r>
            <a:r>
              <a:rPr dirty="0" sz="1050" spc="12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42424"/>
                </a:solidFill>
                <a:latin typeface="Arial MT"/>
                <a:cs typeface="Arial MT"/>
              </a:rPr>
              <a:t>far</a:t>
            </a:r>
            <a:r>
              <a:rPr dirty="0" sz="1050" spc="9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weather updates.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93037" y="2188401"/>
            <a:ext cx="2131695" cy="589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1905">
              <a:lnSpc>
                <a:spcPct val="122500"/>
              </a:lnSpc>
              <a:spcBef>
                <a:spcPts val="130"/>
              </a:spcBef>
            </a:pPr>
            <a:r>
              <a:rPr dirty="0" sz="1000" spc="50">
                <a:latin typeface="Arial MT"/>
                <a:cs typeface="Arial MT"/>
              </a:rPr>
              <a:t>Difficulty</a:t>
            </a:r>
            <a:r>
              <a:rPr dirty="0" sz="1000" spc="2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identifying</a:t>
            </a:r>
            <a:r>
              <a:rPr dirty="0" sz="1000" spc="260">
                <a:latin typeface="Arial MT"/>
                <a:cs typeface="Arial MT"/>
              </a:rPr>
              <a:t> </a:t>
            </a:r>
            <a:r>
              <a:rPr dirty="0" sz="1000" i="1">
                <a:solidFill>
                  <a:srgbClr val="0F0F0F"/>
                </a:solidFill>
                <a:latin typeface="Arial"/>
                <a:cs typeface="Arial"/>
              </a:rPr>
              <a:t>crop</a:t>
            </a:r>
            <a:r>
              <a:rPr dirty="0" sz="1000" spc="280" i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disease</a:t>
            </a:r>
            <a:r>
              <a:rPr dirty="0" sz="1000" spc="-85" i="1">
                <a:latin typeface="Arial"/>
                <a:cs typeface="Arial"/>
              </a:rPr>
              <a:t> </a:t>
            </a:r>
            <a:r>
              <a:rPr dirty="0" sz="1000" spc="-50" i="1">
                <a:solidFill>
                  <a:srgbClr val="383838"/>
                </a:solidFill>
                <a:latin typeface="Arial"/>
                <a:cs typeface="Arial"/>
              </a:rPr>
              <a:t>s </a:t>
            </a:r>
            <a:r>
              <a:rPr dirty="0" sz="1000" spc="-10">
                <a:solidFill>
                  <a:srgbClr val="181818"/>
                </a:solidFill>
                <a:latin typeface="Arial MT"/>
                <a:cs typeface="Arial MT"/>
              </a:rPr>
              <a:t>an</a:t>
            </a:r>
            <a:r>
              <a:rPr dirty="0" sz="1000" spc="-13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82828"/>
                </a:solidFill>
                <a:latin typeface="Arial MT"/>
                <a:cs typeface="Arial MT"/>
              </a:rPr>
              <a:t>d</a:t>
            </a:r>
            <a:r>
              <a:rPr dirty="0" sz="1000" spc="19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83838"/>
                </a:solidFill>
                <a:latin typeface="Arial MT"/>
                <a:cs typeface="Arial MT"/>
              </a:rPr>
              <a:t>co</a:t>
            </a:r>
            <a:r>
              <a:rPr dirty="0" sz="1000" spc="-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ping</a:t>
            </a:r>
            <a:r>
              <a:rPr dirty="0" sz="1000" spc="295"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61616"/>
                </a:solidFill>
                <a:latin typeface="Arial MT"/>
                <a:cs typeface="Arial MT"/>
              </a:rPr>
              <a:t>w</a:t>
            </a:r>
            <a:r>
              <a:rPr dirty="0" sz="1000" spc="-1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51515"/>
                </a:solidFill>
                <a:latin typeface="Arial MT"/>
                <a:cs typeface="Arial MT"/>
              </a:rPr>
              <a:t>ith</a:t>
            </a:r>
            <a:r>
              <a:rPr dirty="0" sz="1000" spc="25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11111"/>
                </a:solidFill>
                <a:latin typeface="Arial MT"/>
                <a:cs typeface="Arial MT"/>
              </a:rPr>
              <a:t>un</a:t>
            </a:r>
            <a:r>
              <a:rPr dirty="0" sz="1000">
                <a:latin typeface="Arial MT"/>
                <a:cs typeface="Arial MT"/>
              </a:rPr>
              <a:t>predictab</a:t>
            </a:r>
            <a:r>
              <a:rPr dirty="0" sz="1000" spc="-114"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F1F1F"/>
                </a:solidFill>
                <a:latin typeface="Arial MT"/>
                <a:cs typeface="Arial MT"/>
              </a:rPr>
              <a:t>Ie </a:t>
            </a:r>
            <a:r>
              <a:rPr dirty="0" sz="1000" i="1">
                <a:latin typeface="Arial"/>
                <a:cs typeface="Arial"/>
              </a:rPr>
              <a:t>weather</a:t>
            </a:r>
            <a:r>
              <a:rPr dirty="0" sz="1000" spc="215" i="1">
                <a:latin typeface="Arial"/>
                <a:cs typeface="Arial"/>
              </a:rPr>
              <a:t> </a:t>
            </a:r>
            <a:r>
              <a:rPr dirty="0" sz="1000" spc="-10">
                <a:latin typeface="Arial MT"/>
                <a:cs typeface="Arial MT"/>
              </a:rPr>
              <a:t>conditions.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89254" y="3895428"/>
            <a:ext cx="2156460" cy="5822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7620">
              <a:lnSpc>
                <a:spcPct val="122500"/>
              </a:lnSpc>
              <a:spcBef>
                <a:spcPts val="70"/>
              </a:spcBef>
            </a:pP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Villa</a:t>
            </a:r>
            <a:r>
              <a:rPr dirty="0" sz="1000" spc="-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D3D3D"/>
                </a:solidFill>
                <a:latin typeface="Arial MT"/>
                <a:cs typeface="Arial MT"/>
              </a:rPr>
              <a:t>ge</a:t>
            </a:r>
            <a:r>
              <a:rPr dirty="0" sz="1000" spc="24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announcements</a:t>
            </a:r>
            <a:r>
              <a:rPr dirty="0" sz="1000" spc="39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1F1F"/>
                </a:solidFill>
                <a:latin typeface="Arial MT"/>
                <a:cs typeface="Arial MT"/>
              </a:rPr>
              <a:t>rem</a:t>
            </a:r>
            <a:r>
              <a:rPr dirty="0" sz="1000">
                <a:solidFill>
                  <a:srgbClr val="0E0E0E"/>
                </a:solidFill>
                <a:latin typeface="Arial MT"/>
                <a:cs typeface="Arial MT"/>
              </a:rPr>
              <a:t>a!</a:t>
            </a:r>
            <a:r>
              <a:rPr dirty="0" sz="1000">
                <a:solidFill>
                  <a:srgbClr val="3F3F3F"/>
                </a:solidFill>
                <a:latin typeface="Arial MT"/>
                <a:cs typeface="Arial MT"/>
              </a:rPr>
              <a:t>n</a:t>
            </a:r>
            <a:r>
              <a:rPr dirty="0" sz="1000" spc="2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000" spc="25">
                <a:solidFill>
                  <a:srgbClr val="262626"/>
                </a:solidFill>
                <a:latin typeface="Arial MT"/>
                <a:cs typeface="Arial MT"/>
              </a:rPr>
              <a:t>th</a:t>
            </a:r>
            <a:r>
              <a:rPr dirty="0" sz="1000" spc="25">
                <a:solidFill>
                  <a:srgbClr val="282828"/>
                </a:solidFill>
                <a:latin typeface="Arial MT"/>
                <a:cs typeface="Arial MT"/>
              </a:rPr>
              <a:t>e </a:t>
            </a:r>
            <a:r>
              <a:rPr dirty="0" sz="1000">
                <a:solidFill>
                  <a:srgbClr val="0C0C0C"/>
                </a:solidFill>
                <a:latin typeface="Arial MT"/>
                <a:cs typeface="Arial MT"/>
              </a:rPr>
              <a:t>primary</a:t>
            </a:r>
            <a:r>
              <a:rPr dirty="0" sz="1000" spc="4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51515"/>
                </a:solidFill>
                <a:latin typeface="Arial MT"/>
                <a:cs typeface="Arial MT"/>
              </a:rPr>
              <a:t>source</a:t>
            </a:r>
            <a:r>
              <a:rPr dirty="0" sz="1000" spc="204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315"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31313"/>
                </a:solidFill>
                <a:latin typeface="Arial MT"/>
                <a:cs typeface="Arial MT"/>
              </a:rPr>
              <a:t>important</a:t>
            </a:r>
            <a:r>
              <a:rPr dirty="0" sz="1000" spc="5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31313"/>
                </a:solidFill>
                <a:latin typeface="Arial MT"/>
                <a:cs typeface="Arial MT"/>
              </a:rPr>
              <a:t>schem</a:t>
            </a:r>
            <a:r>
              <a:rPr dirty="0" sz="1000" spc="-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61616"/>
                </a:solidFill>
                <a:latin typeface="Arial MT"/>
                <a:cs typeface="Arial MT"/>
              </a:rPr>
              <a:t>e</a:t>
            </a:r>
            <a:r>
              <a:rPr dirty="0" sz="1000" spc="23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F0F0F"/>
                </a:solidFill>
                <a:latin typeface="Arial MT"/>
                <a:cs typeface="Arial MT"/>
              </a:rPr>
              <a:t>inform</a:t>
            </a:r>
            <a:r>
              <a:rPr dirty="0" sz="1000" spc="-9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C0C0C"/>
                </a:solidFill>
                <a:latin typeface="Arial MT"/>
                <a:cs typeface="Arial MT"/>
              </a:rPr>
              <a:t>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07522" y="2189671"/>
            <a:ext cx="2105660" cy="589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3970" marR="5080" indent="-1905">
              <a:lnSpc>
                <a:spcPct val="116700"/>
              </a:lnSpc>
              <a:spcBef>
                <a:spcPts val="130"/>
              </a:spcBef>
            </a:pPr>
            <a:r>
              <a:rPr dirty="0" sz="1050">
                <a:solidFill>
                  <a:srgbClr val="212121"/>
                </a:solidFill>
                <a:latin typeface="Arial MT"/>
                <a:cs typeface="Arial MT"/>
              </a:rPr>
              <a:t>High</a:t>
            </a:r>
            <a:r>
              <a:rPr dirty="0" sz="10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131313"/>
                </a:solidFill>
                <a:latin typeface="Arial MT"/>
                <a:cs typeface="Arial MT"/>
              </a:rPr>
              <a:t>dependence</a:t>
            </a:r>
            <a:r>
              <a:rPr dirty="0" sz="1050" spc="1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B2B2B"/>
                </a:solidFill>
                <a:latin typeface="Arial MT"/>
                <a:cs typeface="Arial MT"/>
              </a:rPr>
              <a:t>on</a:t>
            </a:r>
            <a:r>
              <a:rPr dirty="0" sz="1050" spc="-25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midd/emen</a:t>
            </a:r>
            <a:r>
              <a:rPr dirty="0" sz="1050" spc="60">
                <a:latin typeface="Arial MT"/>
                <a:cs typeface="Arial MT"/>
              </a:rPr>
              <a:t> </a:t>
            </a:r>
            <a:r>
              <a:rPr dirty="0" sz="1050" spc="-25">
                <a:latin typeface="Arial MT"/>
                <a:cs typeface="Arial MT"/>
              </a:rPr>
              <a:t>or </a:t>
            </a:r>
            <a:r>
              <a:rPr dirty="0" sz="1050">
                <a:latin typeface="Arial MT"/>
                <a:cs typeface="Arial MT"/>
              </a:rPr>
              <a:t>manual</a:t>
            </a:r>
            <a:r>
              <a:rPr dirty="0" sz="1050" spc="70"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C0C0C"/>
                </a:solidFill>
                <a:latin typeface="Arial MT"/>
                <a:cs typeface="Arial MT"/>
              </a:rPr>
              <a:t>guesses</a:t>
            </a:r>
            <a:r>
              <a:rPr dirty="0" sz="1050" spc="1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A0A0A"/>
                </a:solidFill>
                <a:latin typeface="Arial MT"/>
                <a:cs typeface="Arial MT"/>
              </a:rPr>
              <a:t>due</a:t>
            </a:r>
            <a:r>
              <a:rPr dirty="0" sz="1050" spc="4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dirty="0" sz="1050" spc="2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F0F0F"/>
                </a:solidFill>
                <a:latin typeface="Arial MT"/>
                <a:cs typeface="Arial MT"/>
              </a:rPr>
              <a:t>lack</a:t>
            </a:r>
            <a:r>
              <a:rPr dirty="0" sz="1050" spc="1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A2A2A"/>
                </a:solidFill>
                <a:latin typeface="Arial MT"/>
                <a:cs typeface="Arial MT"/>
              </a:rPr>
              <a:t>of </a:t>
            </a:r>
            <a:r>
              <a:rPr dirty="0" sz="1050">
                <a:solidFill>
                  <a:srgbClr val="0F0F0F"/>
                </a:solidFill>
                <a:latin typeface="Arial MT"/>
                <a:cs typeface="Arial MT"/>
              </a:rPr>
              <a:t>accessible</a:t>
            </a:r>
            <a:r>
              <a:rPr dirty="0" sz="1050" spc="1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A0A0A"/>
                </a:solidFill>
                <a:latin typeface="Arial MT"/>
                <a:cs typeface="Arial MT"/>
              </a:rPr>
              <a:t>data.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2050" y="3896698"/>
            <a:ext cx="2232660" cy="39179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280"/>
              </a:spcBef>
            </a:pPr>
            <a:r>
              <a:rPr dirty="0" sz="1050">
                <a:latin typeface="Arial MT"/>
                <a:cs typeface="Arial MT"/>
              </a:rPr>
              <a:t>Result: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 spc="-30" i="1">
                <a:solidFill>
                  <a:srgbClr val="212121"/>
                </a:solidFill>
                <a:latin typeface="Arial"/>
                <a:cs typeface="Arial"/>
              </a:rPr>
              <a:t>Poor</a:t>
            </a:r>
            <a:r>
              <a:rPr dirty="0" sz="1050" spc="45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Arial MT"/>
                <a:cs typeface="Arial MT"/>
              </a:rPr>
              <a:t>decisions</a:t>
            </a:r>
            <a:r>
              <a:rPr dirty="0" sz="10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50" spc="-2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050" spc="-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111111"/>
                </a:solidFill>
                <a:latin typeface="Arial"/>
                <a:cs typeface="Arial"/>
              </a:rPr>
              <a:t>financial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50">
                <a:solidFill>
                  <a:srgbClr val="131313"/>
                </a:solidFill>
                <a:latin typeface="Arial MT"/>
                <a:cs typeface="Arial MT"/>
              </a:rPr>
              <a:t>losses</a:t>
            </a:r>
            <a:r>
              <a:rPr dirty="0" sz="1050" spc="9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131313"/>
                </a:solidFill>
                <a:latin typeface="Arial MT"/>
                <a:cs typeface="Arial MT"/>
              </a:rPr>
              <a:t>for</a:t>
            </a:r>
            <a:r>
              <a:rPr dirty="0" sz="1050" spc="14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small-</a:t>
            </a:r>
            <a:r>
              <a:rPr dirty="0" sz="1050">
                <a:latin typeface="Arial MT"/>
                <a:cs typeface="Arial MT"/>
              </a:rPr>
              <a:t>scale</a:t>
            </a:r>
            <a:r>
              <a:rPr dirty="0" sz="1050" spc="20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rural</a:t>
            </a:r>
            <a:r>
              <a:rPr dirty="0" sz="1050" spc="9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farmers.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9901" y="2297630"/>
            <a:ext cx="3184525" cy="942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30">
                <a:latin typeface="Cambria"/>
                <a:cs typeface="Cambria"/>
              </a:rPr>
              <a:t>Solution:</a:t>
            </a:r>
            <a:r>
              <a:rPr dirty="0" sz="2450" spc="-55">
                <a:latin typeface="Cambria"/>
                <a:cs typeface="Cambria"/>
              </a:rPr>
              <a:t> </a:t>
            </a:r>
            <a:r>
              <a:rPr dirty="0" sz="2450" spc="-35">
                <a:latin typeface="Cambria"/>
                <a:cs typeface="Cambria"/>
              </a:rPr>
              <a:t>Mitra</a:t>
            </a:r>
            <a:r>
              <a:rPr dirty="0" sz="2450" spc="-95">
                <a:latin typeface="Cambria"/>
                <a:cs typeface="Cambria"/>
              </a:rPr>
              <a:t> </a:t>
            </a:r>
            <a:r>
              <a:rPr dirty="0" sz="2450" spc="-25">
                <a:latin typeface="Cambria"/>
                <a:cs typeface="Cambria"/>
              </a:rPr>
              <a:t>Al</a:t>
            </a:r>
            <a:endParaRPr sz="2450">
              <a:latin typeface="Cambria"/>
              <a:cs typeface="Cambria"/>
            </a:endParaRPr>
          </a:p>
          <a:p>
            <a:pPr marL="12700" marR="5080" indent="8890">
              <a:lnSpc>
                <a:spcPct val="116700"/>
              </a:lnSpc>
              <a:spcBef>
                <a:spcPts val="920"/>
              </a:spcBef>
            </a:pPr>
            <a:r>
              <a:rPr dirty="0" sz="1200">
                <a:solidFill>
                  <a:srgbClr val="666666"/>
                </a:solidFill>
                <a:latin typeface="Arial MT"/>
                <a:cs typeface="Arial MT"/>
              </a:rPr>
              <a:t>An</a:t>
            </a:r>
            <a:r>
              <a:rPr dirty="0" sz="1200" spc="20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65656"/>
                </a:solidFill>
                <a:latin typeface="Arial MT"/>
                <a:cs typeface="Arial MT"/>
              </a:rPr>
              <a:t>Al-powered</a:t>
            </a:r>
            <a:r>
              <a:rPr dirty="0" sz="1200" spc="28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45454"/>
                </a:solidFill>
                <a:latin typeface="Arial MT"/>
                <a:cs typeface="Arial MT"/>
              </a:rPr>
              <a:t>assistant</a:t>
            </a:r>
            <a:r>
              <a:rPr dirty="0" sz="1200" spc="36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06060"/>
                </a:solidFill>
                <a:latin typeface="Arial MT"/>
                <a:cs typeface="Arial MT"/>
              </a:rPr>
              <a:t>desig</a:t>
            </a:r>
            <a:r>
              <a:rPr dirty="0" sz="1200" spc="-17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06060"/>
                </a:solidFill>
                <a:latin typeface="Arial MT"/>
                <a:cs typeface="Arial MT"/>
              </a:rPr>
              <a:t>ned</a:t>
            </a:r>
            <a:r>
              <a:rPr dirty="0" sz="1200" spc="10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D4D4D"/>
                </a:solidFill>
                <a:latin typeface="Arial MT"/>
                <a:cs typeface="Arial MT"/>
              </a:rPr>
              <a:t>for</a:t>
            </a:r>
            <a:r>
              <a:rPr dirty="0" sz="1200" spc="2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6E6E6E"/>
                </a:solidFill>
                <a:latin typeface="Arial MT"/>
                <a:cs typeface="Arial MT"/>
              </a:rPr>
              <a:t>smart </a:t>
            </a:r>
            <a:r>
              <a:rPr dirty="0" sz="1200">
                <a:solidFill>
                  <a:srgbClr val="4F4F4F"/>
                </a:solidFill>
                <a:latin typeface="Arial MT"/>
                <a:cs typeface="Arial MT"/>
              </a:rPr>
              <a:t>farming</a:t>
            </a:r>
            <a:r>
              <a:rPr dirty="0" sz="1200" spc="27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76767"/>
                </a:solidFill>
                <a:latin typeface="Arial MT"/>
                <a:cs typeface="Arial MT"/>
              </a:rPr>
              <a:t>decisions</a:t>
            </a:r>
            <a:r>
              <a:rPr dirty="0" sz="1200" spc="33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B6B6B"/>
                </a:solidFill>
                <a:latin typeface="Arial MT"/>
                <a:cs typeface="Arial MT"/>
              </a:rPr>
              <a:t>in</a:t>
            </a:r>
            <a:r>
              <a:rPr dirty="0" sz="1200" spc="21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D5D5D"/>
                </a:solidFill>
                <a:latin typeface="Arial MT"/>
                <a:cs typeface="Arial MT"/>
              </a:rPr>
              <a:t>local</a:t>
            </a:r>
            <a:r>
              <a:rPr dirty="0" sz="1200" spc="26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626262"/>
                </a:solidFill>
                <a:latin typeface="Arial MT"/>
                <a:cs typeface="Arial MT"/>
              </a:rPr>
              <a:t>languages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535359" y="646485"/>
            <a:ext cx="2834005" cy="149923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340"/>
              </a:spcBef>
            </a:pPr>
            <a:r>
              <a:rPr dirty="0" sz="1200" spc="-10">
                <a:latin typeface="Cambria"/>
                <a:cs typeface="Cambria"/>
              </a:rPr>
              <a:t>firop</a:t>
            </a:r>
            <a:r>
              <a:rPr dirty="0" sz="1200" spc="-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Prícc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í'indcr</a:t>
            </a:r>
            <a:endParaRPr sz="1200">
              <a:latin typeface="Cambria"/>
              <a:cs typeface="Cambria"/>
            </a:endParaRPr>
          </a:p>
          <a:p>
            <a:pPr marL="13335" marR="5080" indent="-1270">
              <a:lnSpc>
                <a:spcPct val="114999"/>
              </a:lnSpc>
              <a:spcBef>
                <a:spcPts val="20"/>
              </a:spcBef>
            </a:pPr>
            <a:r>
              <a:rPr dirty="0" sz="1000">
                <a:solidFill>
                  <a:srgbClr val="494949"/>
                </a:solidFill>
                <a:latin typeface="Arial MT"/>
                <a:cs typeface="Arial MT"/>
              </a:rPr>
              <a:t>Shows</a:t>
            </a:r>
            <a:r>
              <a:rPr dirty="0" sz="1000" spc="3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Arial MT"/>
                <a:cs typeface="Arial MT"/>
              </a:rPr>
              <a:t>real-</a:t>
            </a:r>
            <a:r>
              <a:rPr dirty="0" sz="1000">
                <a:solidFill>
                  <a:srgbClr val="3F3F3F"/>
                </a:solidFill>
                <a:latin typeface="Arial MT"/>
                <a:cs typeface="Arial MT"/>
              </a:rPr>
              <a:t>time</a:t>
            </a:r>
            <a:r>
              <a:rPr dirty="0" sz="1000" spc="1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D4D4D"/>
                </a:solidFill>
                <a:latin typeface="Arial MT"/>
                <a:cs typeface="Arial MT"/>
              </a:rPr>
              <a:t>mandi</a:t>
            </a:r>
            <a:r>
              <a:rPr dirty="0" sz="1000" spc="-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prices</a:t>
            </a:r>
            <a:r>
              <a:rPr dirty="0" sz="1000" spc="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F4F4F"/>
                </a:solidFill>
                <a:latin typeface="Arial MT"/>
                <a:cs typeface="Arial MT"/>
              </a:rPr>
              <a:t>to</a:t>
            </a:r>
            <a:r>
              <a:rPr dirty="0" sz="1000" spc="-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44444"/>
                </a:solidFill>
                <a:latin typeface="Arial MT"/>
                <a:cs typeface="Arial MT"/>
              </a:rPr>
              <a:t>help</a:t>
            </a:r>
            <a:r>
              <a:rPr dirty="0" sz="1000" spc="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B3B3B"/>
                </a:solidFill>
                <a:latin typeface="Arial MT"/>
                <a:cs typeface="Arial MT"/>
              </a:rPr>
              <a:t>farmers</a:t>
            </a:r>
            <a:r>
              <a:rPr dirty="0" sz="1000" spc="9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C1C1C"/>
                </a:solidFill>
                <a:latin typeface="Arial MT"/>
                <a:cs typeface="Arial MT"/>
              </a:rPr>
              <a:t>sell </a:t>
            </a:r>
            <a:r>
              <a:rPr dirty="0" sz="1000">
                <a:solidFill>
                  <a:srgbClr val="565656"/>
                </a:solidFill>
                <a:latin typeface="Arial MT"/>
                <a:cs typeface="Arial MT"/>
              </a:rPr>
              <a:t>at</a:t>
            </a:r>
            <a:r>
              <a:rPr dirty="0" sz="1000" spc="-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dirty="0" sz="1000" spc="10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64646"/>
                </a:solidFill>
                <a:latin typeface="Arial MT"/>
                <a:cs typeface="Arial MT"/>
              </a:rPr>
              <a:t>right</a:t>
            </a:r>
            <a:r>
              <a:rPr dirty="0" sz="1000" spc="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24242"/>
                </a:solidFill>
                <a:latin typeface="Arial MT"/>
                <a:cs typeface="Arial MT"/>
              </a:rPr>
              <a:t>time.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00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WCathcr</a:t>
            </a:r>
            <a:r>
              <a:rPr dirty="0" sz="1100" spc="1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üpdíltes</a:t>
            </a:r>
            <a:endParaRPr sz="1100">
              <a:latin typeface="Cambria"/>
              <a:cs typeface="Cambria"/>
            </a:endParaRPr>
          </a:p>
          <a:p>
            <a:pPr marL="17145" marR="164465" indent="-1905">
              <a:lnSpc>
                <a:spcPct val="110000"/>
              </a:lnSpc>
              <a:spcBef>
                <a:spcPts val="160"/>
              </a:spcBef>
            </a:pPr>
            <a:r>
              <a:rPr dirty="0" sz="1000">
                <a:solidFill>
                  <a:srgbClr val="414141"/>
                </a:solidFill>
                <a:latin typeface="Arial MT"/>
                <a:cs typeface="Arial MT"/>
              </a:rPr>
              <a:t>Provides</a:t>
            </a:r>
            <a:r>
              <a:rPr dirty="0" sz="1000" spc="8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D3D3D"/>
                </a:solidFill>
                <a:latin typeface="Arial MT"/>
                <a:cs typeface="Arial MT"/>
              </a:rPr>
              <a:t>localized</a:t>
            </a:r>
            <a:r>
              <a:rPr dirty="0" sz="1000" spc="7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82828"/>
                </a:solidFill>
                <a:latin typeface="Arial MT"/>
                <a:cs typeface="Arial MT"/>
              </a:rPr>
              <a:t>weather</a:t>
            </a:r>
            <a:r>
              <a:rPr dirty="0" sz="1000" spc="1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D3D3D"/>
                </a:solidFill>
                <a:latin typeface="Arial MT"/>
                <a:cs typeface="Arial MT"/>
              </a:rPr>
              <a:t>forecasts</a:t>
            </a:r>
            <a:r>
              <a:rPr dirty="0" sz="1000" spc="4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84848"/>
                </a:solidFill>
                <a:latin typeface="Arial MT"/>
                <a:cs typeface="Arial MT"/>
              </a:rPr>
              <a:t>for</a:t>
            </a:r>
            <a:r>
              <a:rPr dirty="0" sz="1000" spc="-3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14141"/>
                </a:solidFill>
                <a:latin typeface="Arial MT"/>
                <a:cs typeface="Arial MT"/>
              </a:rPr>
              <a:t>better </a:t>
            </a:r>
            <a:r>
              <a:rPr dirty="0" sz="1000" spc="-10">
                <a:solidFill>
                  <a:srgbClr val="343434"/>
                </a:solidFill>
                <a:latin typeface="Arial MT"/>
                <a:cs typeface="Arial MT"/>
              </a:rPr>
              <a:t>plannir\g.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35643" y="2440951"/>
            <a:ext cx="2433955" cy="61023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490"/>
              </a:spcBef>
            </a:pPr>
            <a:r>
              <a:rPr dirty="0" sz="1200">
                <a:latin typeface="Cambria"/>
                <a:cs typeface="Cambria"/>
              </a:rPr>
              <a:t>Scheme</a:t>
            </a:r>
            <a:r>
              <a:rPr dirty="0" sz="1200" spc="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£fiidcr</a:t>
            </a:r>
            <a:endParaRPr sz="1200">
              <a:latin typeface="Cambria"/>
              <a:cs typeface="Cambria"/>
            </a:endParaRPr>
          </a:p>
          <a:p>
            <a:pPr marL="17780" marR="5080" indent="-5715">
              <a:lnSpc>
                <a:spcPct val="115799"/>
              </a:lnSpc>
              <a:spcBef>
                <a:spcPts val="130"/>
              </a:spcBef>
            </a:pPr>
            <a:r>
              <a:rPr dirty="0" sz="950">
                <a:solidFill>
                  <a:srgbClr val="313131"/>
                </a:solidFill>
                <a:latin typeface="Arial MT"/>
                <a:cs typeface="Arial MT"/>
              </a:rPr>
              <a:t>Suggests</a:t>
            </a:r>
            <a:r>
              <a:rPr dirty="0" sz="950" spc="16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83838"/>
                </a:solidFill>
                <a:latin typeface="Arial MT"/>
                <a:cs typeface="Arial MT"/>
              </a:rPr>
              <a:t>relevant</a:t>
            </a:r>
            <a:r>
              <a:rPr dirty="0" sz="950" spc="2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D3D3D"/>
                </a:solidFill>
                <a:latin typeface="Arial MT"/>
                <a:cs typeface="Arial MT"/>
              </a:rPr>
              <a:t>government</a:t>
            </a:r>
            <a:r>
              <a:rPr dirty="0" sz="950" spc="21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B4B4B"/>
                </a:solidFill>
                <a:latin typeface="Arial MT"/>
                <a:cs typeface="Arial MT"/>
              </a:rPr>
              <a:t>schemes</a:t>
            </a:r>
            <a:r>
              <a:rPr dirty="0" sz="950" spc="2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Arial MT"/>
                <a:cs typeface="Arial MT"/>
              </a:rPr>
              <a:t>to </a:t>
            </a:r>
            <a:r>
              <a:rPr dirty="0" sz="950" spc="-10">
                <a:solidFill>
                  <a:srgbClr val="343434"/>
                </a:solidFill>
                <a:latin typeface="Arial MT"/>
                <a:cs typeface="Arial MT"/>
              </a:rPr>
              <a:t>maKimi2e</a:t>
            </a:r>
            <a:r>
              <a:rPr dirty="0" sz="950" spc="-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62626"/>
                </a:solidFill>
                <a:latin typeface="Arial MT"/>
                <a:cs typeface="Arial MT"/>
              </a:rPr>
              <a:t>benefits.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26465" y="3377645"/>
            <a:ext cx="2734310" cy="14871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250" spc="-25">
                <a:solidFill>
                  <a:srgbClr val="131313"/>
                </a:solidFill>
                <a:latin typeface="Cambria"/>
                <a:cs typeface="Cambria"/>
              </a:rPr>
              <a:t>Uiseasc</a:t>
            </a:r>
            <a:r>
              <a:rPr dirty="0" sz="1250" spc="1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250" spc="-10">
                <a:latin typeface="Cambria"/>
                <a:cs typeface="Cambria"/>
              </a:rPr>
              <a:t>Dctcction</a:t>
            </a:r>
            <a:endParaRPr sz="1250">
              <a:latin typeface="Cambria"/>
              <a:cs typeface="Cambria"/>
            </a:endParaRPr>
          </a:p>
          <a:p>
            <a:pPr marL="13970" marR="17145" indent="4445">
              <a:lnSpc>
                <a:spcPct val="104800"/>
              </a:lnSpc>
              <a:spcBef>
                <a:spcPts val="80"/>
              </a:spcBef>
            </a:pPr>
            <a:r>
              <a:rPr dirty="0" sz="1050" spc="-50">
                <a:solidFill>
                  <a:srgbClr val="4B4B4B"/>
                </a:solidFill>
                <a:latin typeface="Cambria"/>
                <a:cs typeface="Cambria"/>
              </a:rPr>
              <a:t>At</a:t>
            </a:r>
            <a:r>
              <a:rPr dirty="0" sz="1050" spc="55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dirty="0" sz="1050">
                <a:solidFill>
                  <a:srgbClr val="484848"/>
                </a:solidFill>
                <a:latin typeface="Cambria"/>
                <a:cs typeface="Cambria"/>
              </a:rPr>
              <a:t>detects</a:t>
            </a:r>
            <a:r>
              <a:rPr dirty="0" sz="1050" spc="35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dirty="0" sz="1050">
                <a:solidFill>
                  <a:srgbClr val="5B5B5B"/>
                </a:solidFill>
                <a:latin typeface="Cambria"/>
                <a:cs typeface="Cambria"/>
              </a:rPr>
              <a:t>crop</a:t>
            </a:r>
            <a:r>
              <a:rPr dirty="0" sz="1050" spc="1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dirty="0" sz="1050">
                <a:solidFill>
                  <a:srgbClr val="3F3F3F"/>
                </a:solidFill>
                <a:latin typeface="Cambria"/>
                <a:cs typeface="Cambria"/>
              </a:rPr>
              <a:t>diseases</a:t>
            </a:r>
            <a:r>
              <a:rPr dirty="0" sz="1050" spc="6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dirty="0" sz="1050" spc="-30">
                <a:solidFill>
                  <a:srgbClr val="4F4F4F"/>
                </a:solidFill>
                <a:latin typeface="Cambria"/>
                <a:cs typeface="Cambria"/>
              </a:rPr>
              <a:t>from</a:t>
            </a:r>
            <a:r>
              <a:rPr dirty="0" sz="1050" spc="55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1050" spc="-10">
                <a:solidFill>
                  <a:srgbClr val="343434"/>
                </a:solidFill>
                <a:latin typeface="Cambria"/>
                <a:cs typeface="Cambria"/>
              </a:rPr>
              <a:t>uploaded</a:t>
            </a:r>
            <a:r>
              <a:rPr dirty="0" sz="1050" spc="85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1050" spc="-10">
                <a:solidFill>
                  <a:srgbClr val="464646"/>
                </a:solidFill>
                <a:latin typeface="Cambria"/>
                <a:cs typeface="Cambria"/>
              </a:rPr>
              <a:t>images </a:t>
            </a:r>
            <a:r>
              <a:rPr dirty="0" sz="1050" spc="-10">
                <a:solidFill>
                  <a:srgbClr val="3D3D3D"/>
                </a:solidFill>
                <a:latin typeface="Cambria"/>
                <a:cs typeface="Cambria"/>
              </a:rPr>
              <a:t>instantly.</a:t>
            </a:r>
            <a:endParaRPr sz="10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0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50">
              <a:latin typeface="Cambria"/>
              <a:cs typeface="Cambria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dirty="0" sz="1200" spc="-55">
                <a:solidFill>
                  <a:srgbClr val="131313"/>
                </a:solidFill>
                <a:latin typeface="Cambria"/>
                <a:cs typeface="Cambria"/>
              </a:rPr>
              <a:t>Harming</a:t>
            </a:r>
            <a:r>
              <a:rPr dirty="0" sz="1200" spc="4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111111"/>
                </a:solidFill>
                <a:latin typeface="Cambria"/>
                <a:cs typeface="Cambria"/>
              </a:rPr>
              <a:t>Advisn</a:t>
            </a:r>
            <a:endParaRPr sz="1200">
              <a:latin typeface="Cambria"/>
              <a:cs typeface="Cambria"/>
            </a:endParaRPr>
          </a:p>
          <a:p>
            <a:pPr marL="22860" marR="5080" indent="-10160">
              <a:lnSpc>
                <a:spcPct val="115799"/>
              </a:lnSpc>
              <a:spcBef>
                <a:spcPts val="130"/>
              </a:spcBef>
            </a:pPr>
            <a:r>
              <a:rPr dirty="0" sz="950" spc="30">
                <a:solidFill>
                  <a:srgbClr val="363636"/>
                </a:solidFill>
                <a:latin typeface="Cambria"/>
                <a:cs typeface="Cambria"/>
              </a:rPr>
              <a:t>Smart</a:t>
            </a:r>
            <a:r>
              <a:rPr dirty="0" sz="950" spc="195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950" spc="30">
                <a:solidFill>
                  <a:srgbClr val="2F2F2F"/>
                </a:solidFill>
                <a:latin typeface="Cambria"/>
                <a:cs typeface="Cambria"/>
              </a:rPr>
              <a:t>recommendations</a:t>
            </a:r>
            <a:r>
              <a:rPr dirty="0" sz="950" spc="2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950" spc="30">
                <a:solidFill>
                  <a:srgbClr val="3A3A3A"/>
                </a:solidFill>
                <a:latin typeface="Cambria"/>
                <a:cs typeface="Cambria"/>
              </a:rPr>
              <a:t>for</a:t>
            </a:r>
            <a:r>
              <a:rPr dirty="0" sz="950" spc="25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dirty="0" sz="950" spc="30">
                <a:solidFill>
                  <a:srgbClr val="3D3D3D"/>
                </a:solidFill>
                <a:latin typeface="Cambria"/>
                <a:cs typeface="Cambria"/>
              </a:rPr>
              <a:t>farmers</a:t>
            </a:r>
            <a:r>
              <a:rPr dirty="0" sz="950" spc="105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dirty="0" sz="950" spc="30">
                <a:solidFill>
                  <a:srgbClr val="494949"/>
                </a:solidFill>
                <a:latin typeface="Cambria"/>
                <a:cs typeface="Cambria"/>
              </a:rPr>
              <a:t>to</a:t>
            </a:r>
            <a:r>
              <a:rPr dirty="0" sz="950" spc="85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dirty="0" sz="950" spc="-10">
                <a:solidFill>
                  <a:srgbClr val="262626"/>
                </a:solidFill>
                <a:latin typeface="Cambria"/>
                <a:cs typeface="Cambria"/>
              </a:rPr>
              <a:t>optimize </a:t>
            </a:r>
            <a:r>
              <a:rPr dirty="0" sz="950" spc="-10">
                <a:solidFill>
                  <a:srgbClr val="2F2F2F"/>
                </a:solidFill>
                <a:latin typeface="Cambria"/>
                <a:cs typeface="Cambria"/>
              </a:rPr>
              <a:t>productivity.</a:t>
            </a:r>
            <a:endParaRPr sz="9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304" y="2644368"/>
            <a:ext cx="487722" cy="41151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9570" y="2644368"/>
            <a:ext cx="487722" cy="41913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7836" y="2606266"/>
            <a:ext cx="480101" cy="4801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56904" y="3299745"/>
            <a:ext cx="281964" cy="1409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96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480"/>
              </a:spcBef>
            </a:pPr>
            <a:r>
              <a:rPr dirty="0" spc="-55"/>
              <a:t>Impact</a:t>
            </a:r>
            <a:r>
              <a:rPr dirty="0" spc="-60"/>
              <a:t> </a:t>
            </a:r>
            <a:r>
              <a:rPr dirty="0"/>
              <a:t>Y</a:t>
            </a:r>
            <a:r>
              <a:rPr dirty="0" spc="-150"/>
              <a:t> </a:t>
            </a:r>
            <a:r>
              <a:rPr dirty="0" spc="-40"/>
              <a:t>Future</a:t>
            </a:r>
            <a:r>
              <a:rPr dirty="0" spc="-100"/>
              <a:t> </a:t>
            </a:r>
            <a:r>
              <a:rPr dirty="0" spc="-10"/>
              <a:t>Scope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150">
                <a:solidFill>
                  <a:srgbClr val="606060"/>
                </a:solidFill>
                <a:latin typeface="Arial MT"/>
                <a:cs typeface="Arial MT"/>
              </a:rPr>
              <a:t>Empowering</a:t>
            </a:r>
            <a:r>
              <a:rPr dirty="0" sz="1150" spc="28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150" spc="50">
                <a:solidFill>
                  <a:srgbClr val="5E5E5E"/>
                </a:solidFill>
                <a:latin typeface="Arial MT"/>
                <a:cs typeface="Arial MT"/>
              </a:rPr>
              <a:t>farmers</a:t>
            </a:r>
            <a:r>
              <a:rPr dirty="0" sz="1150" spc="28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150" spc="50">
                <a:solidFill>
                  <a:srgbClr val="606060"/>
                </a:solidFill>
                <a:latin typeface="Arial MT"/>
                <a:cs typeface="Arial MT"/>
              </a:rPr>
              <a:t>through</a:t>
            </a:r>
            <a:r>
              <a:rPr dirty="0" sz="1150" spc="36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150" spc="55">
                <a:solidFill>
                  <a:srgbClr val="545454"/>
                </a:solidFill>
                <a:latin typeface="Arial MT"/>
                <a:cs typeface="Arial MT"/>
              </a:rPr>
              <a:t>data-driven</a:t>
            </a:r>
            <a:r>
              <a:rPr dirty="0" sz="1150" spc="39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5E5E5E"/>
                </a:solidFill>
                <a:latin typeface="Arial MT"/>
                <a:cs typeface="Arial MT"/>
              </a:rPr>
              <a:t>decisions</a:t>
            </a:r>
            <a:r>
              <a:rPr dirty="0" sz="1150" spc="33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5D5D5D"/>
                </a:solidFill>
                <a:latin typeface="Arial MT"/>
                <a:cs typeface="Arial MT"/>
              </a:rPr>
              <a:t>and</a:t>
            </a:r>
            <a:r>
              <a:rPr dirty="0" sz="1150" spc="21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06060"/>
                </a:solidFill>
                <a:latin typeface="Arial MT"/>
                <a:cs typeface="Arial MT"/>
              </a:rPr>
              <a:t>scalable</a:t>
            </a:r>
            <a:r>
              <a:rPr dirty="0" sz="1150" spc="40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150" spc="-245">
                <a:solidFill>
                  <a:srgbClr val="6B6B6B"/>
                </a:solidFill>
                <a:latin typeface="Arial MT"/>
                <a:cs typeface="Arial MT"/>
              </a:rPr>
              <a:t>AT</a:t>
            </a:r>
            <a:r>
              <a:rPr dirty="0" sz="1150" spc="26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150" spc="50">
                <a:solidFill>
                  <a:srgbClr val="595959"/>
                </a:solidFill>
                <a:latin typeface="Arial MT"/>
                <a:cs typeface="Arial MT"/>
              </a:rPr>
              <a:t>technology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69744" y="3259103"/>
            <a:ext cx="4679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0A0A0A"/>
                </a:solidFill>
                <a:latin typeface="Arial MT"/>
                <a:cs typeface="Arial MT"/>
              </a:rPr>
              <a:t>lmyact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7468" y="3924641"/>
            <a:ext cx="2623185" cy="71183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2065" marR="5080" indent="5715">
              <a:lnSpc>
                <a:spcPct val="117600"/>
              </a:lnSpc>
              <a:spcBef>
                <a:spcPts val="140"/>
              </a:spcBef>
            </a:pPr>
            <a:r>
              <a:rPr dirty="0" sz="950">
                <a:solidFill>
                  <a:srgbClr val="494949"/>
                </a:solidFill>
                <a:latin typeface="Arial MT"/>
                <a:cs typeface="Arial MT"/>
              </a:rPr>
              <a:t>Helps</a:t>
            </a:r>
            <a:r>
              <a:rPr dirty="0" sz="950" spc="1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24242"/>
                </a:solidFill>
                <a:latin typeface="Arial MT"/>
                <a:cs typeface="Arial MT"/>
              </a:rPr>
              <a:t>farmers</a:t>
            </a:r>
            <a:r>
              <a:rPr dirty="0" sz="950" spc="15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94949"/>
                </a:solidFill>
                <a:latin typeface="Arial MT"/>
                <a:cs typeface="Arial MT"/>
              </a:rPr>
              <a:t>make</a:t>
            </a:r>
            <a:r>
              <a:rPr dirty="0" sz="950" spc="1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83838"/>
                </a:solidFill>
                <a:latin typeface="Arial MT"/>
                <a:cs typeface="Arial MT"/>
              </a:rPr>
              <a:t>data</a:t>
            </a:r>
            <a:r>
              <a:rPr dirty="0" sz="950" spc="-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D3D3D"/>
                </a:solidFill>
                <a:latin typeface="Arial MT"/>
                <a:cs typeface="Arial MT"/>
              </a:rPr>
              <a:t>-driven</a:t>
            </a:r>
            <a:r>
              <a:rPr dirty="0" sz="950" spc="1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Arial MT"/>
                <a:cs typeface="Arial MT"/>
              </a:rPr>
              <a:t>decisions </a:t>
            </a:r>
            <a:r>
              <a:rPr dirty="0" sz="950">
                <a:solidFill>
                  <a:srgbClr val="2A2A2A"/>
                </a:solidFill>
                <a:latin typeface="Arial MT"/>
                <a:cs typeface="Arial MT"/>
              </a:rPr>
              <a:t>Reduces</a:t>
            </a:r>
            <a:r>
              <a:rPr dirty="0" sz="950" spc="19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1F1F1F"/>
                </a:solidFill>
                <a:latin typeface="Arial MT"/>
                <a:cs typeface="Arial MT"/>
              </a:rPr>
              <a:t>dependency</a:t>
            </a:r>
            <a:r>
              <a:rPr dirty="0" sz="950" spc="20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05050"/>
                </a:solidFill>
                <a:latin typeface="Arial MT"/>
                <a:cs typeface="Arial MT"/>
              </a:rPr>
              <a:t>on</a:t>
            </a:r>
            <a:r>
              <a:rPr dirty="0" sz="950" spc="12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333333"/>
                </a:solidFill>
                <a:latin typeface="Arial MT"/>
                <a:cs typeface="Arial MT"/>
              </a:rPr>
              <a:t>middlemen</a:t>
            </a:r>
            <a:r>
              <a:rPr dirty="0" sz="950" spc="1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D3D3D"/>
                </a:solidFill>
                <a:latin typeface="Arial MT"/>
                <a:cs typeface="Arial MT"/>
              </a:rPr>
              <a:t>Improves </a:t>
            </a:r>
            <a:r>
              <a:rPr dirty="0" sz="950" spc="10">
                <a:solidFill>
                  <a:srgbClr val="2A2A2A"/>
                </a:solidFill>
                <a:latin typeface="Arial MT"/>
                <a:cs typeface="Arial MT"/>
              </a:rPr>
              <a:t>crop</a:t>
            </a:r>
            <a:r>
              <a:rPr dirty="0" sz="950" spc="17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313131"/>
                </a:solidFill>
                <a:latin typeface="Arial MT"/>
                <a:cs typeface="Arial MT"/>
              </a:rPr>
              <a:t>productivity</a:t>
            </a:r>
            <a:r>
              <a:rPr dirty="0" sz="950" spc="204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383838"/>
                </a:solidFill>
                <a:latin typeface="Arial MT"/>
                <a:cs typeface="Arial MT"/>
              </a:rPr>
              <a:t>Provides</a:t>
            </a:r>
            <a:r>
              <a:rPr dirty="0" sz="95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3B3B3B"/>
                </a:solidFill>
                <a:latin typeface="Arial MT"/>
                <a:cs typeface="Arial MT"/>
              </a:rPr>
              <a:t>easy</a:t>
            </a:r>
            <a:r>
              <a:rPr dirty="0" sz="950" spc="9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 MT"/>
                <a:cs typeface="Arial MT"/>
              </a:rPr>
              <a:t>access</a:t>
            </a:r>
            <a:r>
              <a:rPr dirty="0" sz="950" spc="18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B2B2B"/>
                </a:solidFill>
                <a:latin typeface="Arial MT"/>
                <a:cs typeface="Arial MT"/>
              </a:rPr>
              <a:t>to </a:t>
            </a:r>
            <a:r>
              <a:rPr dirty="0" sz="950">
                <a:solidFill>
                  <a:srgbClr val="424242"/>
                </a:solidFill>
                <a:latin typeface="Arial MT"/>
                <a:cs typeface="Arial MT"/>
              </a:rPr>
              <a:t>government</a:t>
            </a:r>
            <a:r>
              <a:rPr dirty="0" sz="950" spc="2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363636"/>
                </a:solidFill>
                <a:latin typeface="Arial MT"/>
                <a:cs typeface="Arial MT"/>
              </a:rPr>
              <a:t>benefits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16608" y="3252752"/>
            <a:ext cx="8655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latin typeface="Cambria"/>
                <a:cs typeface="Cambria"/>
              </a:rPr>
              <a:t>£'uture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20">
                <a:solidFill>
                  <a:srgbClr val="131313"/>
                </a:solidFill>
                <a:latin typeface="Cambria"/>
                <a:cs typeface="Cambria"/>
              </a:rPr>
              <a:t>licope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04688" y="3925911"/>
            <a:ext cx="2684145" cy="544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065" marR="5080">
              <a:lnSpc>
                <a:spcPct val="112500"/>
              </a:lnSpc>
              <a:spcBef>
                <a:spcPts val="130"/>
              </a:spcBef>
            </a:pPr>
            <a:r>
              <a:rPr dirty="0" sz="1000" spc="-10">
                <a:solidFill>
                  <a:srgbClr val="2D2D2D"/>
                </a:solidFill>
                <a:latin typeface="Arial MT"/>
                <a:cs typeface="Arial MT"/>
              </a:rPr>
              <a:t>Expansion</a:t>
            </a:r>
            <a:r>
              <a:rPr dirty="0" sz="1000" spc="2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24242"/>
                </a:solidFill>
                <a:latin typeface="Arial MT"/>
                <a:cs typeface="Arial MT"/>
              </a:rPr>
              <a:t>across</a:t>
            </a:r>
            <a:r>
              <a:rPr dirty="0" sz="1000" spc="6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45454"/>
                </a:solidFill>
                <a:latin typeface="Arial MT"/>
                <a:cs typeface="Arial MT"/>
              </a:rPr>
              <a:t>all</a:t>
            </a:r>
            <a:r>
              <a:rPr dirty="0" sz="1000" spc="-6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F3F3F"/>
                </a:solidFill>
                <a:latin typeface="Arial MT"/>
                <a:cs typeface="Arial MT"/>
              </a:rPr>
              <a:t>!ndian</a:t>
            </a:r>
            <a:r>
              <a:rPr dirty="0" sz="1000" spc="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24242"/>
                </a:solidFill>
                <a:latin typeface="Arial MT"/>
                <a:cs typeface="Arial MT"/>
              </a:rPr>
              <a:t>states</a:t>
            </a:r>
            <a:r>
              <a:rPr dirty="0" sz="1000" spc="1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A2A2A"/>
                </a:solidFill>
                <a:latin typeface="Arial MT"/>
                <a:cs typeface="Arial MT"/>
              </a:rPr>
              <a:t>Voice-based </a:t>
            </a:r>
            <a:r>
              <a:rPr dirty="0" sz="1000" spc="-60">
                <a:solidFill>
                  <a:srgbClr val="494949"/>
                </a:solidFill>
                <a:latin typeface="Arial MT"/>
                <a:cs typeface="Arial MT"/>
              </a:rPr>
              <a:t>AI</a:t>
            </a:r>
            <a:r>
              <a:rPr dirty="0" sz="1000" spc="-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83838"/>
                </a:solidFill>
                <a:latin typeface="Arial MT"/>
                <a:cs typeface="Arial MT"/>
              </a:rPr>
              <a:t>assistant</a:t>
            </a:r>
            <a:r>
              <a:rPr dirty="0" sz="1000" spc="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B3B3B"/>
                </a:solidFill>
                <a:latin typeface="Arial MT"/>
                <a:cs typeface="Arial MT"/>
              </a:rPr>
              <a:t>Integration</a:t>
            </a:r>
            <a:r>
              <a:rPr dirty="0" sz="1000" spc="8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24242"/>
                </a:solidFill>
                <a:latin typeface="Arial MT"/>
                <a:cs typeface="Arial MT"/>
              </a:rPr>
              <a:t>with</a:t>
            </a:r>
            <a:r>
              <a:rPr dirty="0" sz="1000" spc="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424242"/>
                </a:solidFill>
                <a:latin typeface="Arial MT"/>
                <a:cs typeface="Arial MT"/>
              </a:rPr>
              <a:t>IoT</a:t>
            </a:r>
            <a:r>
              <a:rPr dirty="0" sz="1000" spc="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A3A3A"/>
                </a:solidFill>
                <a:latin typeface="Arial MT"/>
                <a:cs typeface="Arial MT"/>
              </a:rPr>
              <a:t>farm</a:t>
            </a:r>
            <a:r>
              <a:rPr dirty="0" sz="1000" spc="1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24242"/>
                </a:solidFill>
                <a:latin typeface="Arial MT"/>
                <a:cs typeface="Arial MT"/>
              </a:rPr>
              <a:t>sensors </a:t>
            </a:r>
            <a:r>
              <a:rPr dirty="0" sz="1000" spc="-105">
                <a:solidFill>
                  <a:srgbClr val="383838"/>
                </a:solidFill>
                <a:latin typeface="Arial MT"/>
                <a:cs typeface="Arial MT"/>
              </a:rPr>
              <a:t>Al—</a:t>
            </a:r>
            <a:r>
              <a:rPr dirty="0" sz="1000" spc="-70">
                <a:solidFill>
                  <a:srgbClr val="383838"/>
                </a:solidFill>
                <a:latin typeface="Arial MT"/>
                <a:cs typeface="Arial MT"/>
              </a:rPr>
              <a:t>based</a:t>
            </a:r>
            <a:r>
              <a:rPr dirty="0" sz="10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83838"/>
                </a:solidFill>
                <a:latin typeface="Arial MT"/>
                <a:cs typeface="Arial MT"/>
              </a:rPr>
              <a:t>crop</a:t>
            </a:r>
            <a:r>
              <a:rPr dirty="0" sz="1000" spc="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D3D3D"/>
                </a:solidFill>
                <a:latin typeface="Arial MT"/>
                <a:cs typeface="Arial MT"/>
              </a:rPr>
              <a:t>yield</a:t>
            </a:r>
            <a:r>
              <a:rPr dirty="0" sz="1000" spc="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63636"/>
                </a:solidFill>
                <a:latin typeface="Arial MT"/>
                <a:cs typeface="Arial MT"/>
              </a:rPr>
              <a:t>prediction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957781" y="3925911"/>
            <a:ext cx="2078989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6120" marR="5080" indent="-694055">
              <a:lnSpc>
                <a:spcPct val="114999"/>
              </a:lnSpc>
              <a:spcBef>
                <a:spcPts val="100"/>
              </a:spcBef>
            </a:pPr>
            <a:r>
              <a:rPr dirty="0" sz="1000" spc="-20">
                <a:solidFill>
                  <a:srgbClr val="383838"/>
                </a:solidFill>
                <a:latin typeface="Arial MT"/>
                <a:cs typeface="Arial MT"/>
              </a:rPr>
              <a:t>Empower</a:t>
            </a:r>
            <a:r>
              <a:rPr dirty="0" sz="1000" spc="6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64646"/>
                </a:solidFill>
                <a:latin typeface="Arial MT"/>
                <a:cs typeface="Arial MT"/>
              </a:rPr>
              <a:t>farmers</a:t>
            </a:r>
            <a:r>
              <a:rPr dirty="0" sz="1000" spc="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10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24242"/>
                </a:solidFill>
                <a:latin typeface="Arial MT"/>
                <a:cs typeface="Arial MT"/>
              </a:rPr>
              <a:t>accessible</a:t>
            </a:r>
            <a:r>
              <a:rPr dirty="0" sz="1000" spc="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4D4D4D"/>
                </a:solidFill>
                <a:latin typeface="Arial MT"/>
                <a:cs typeface="Arial MT"/>
              </a:rPr>
              <a:t>AI </a:t>
            </a:r>
            <a:r>
              <a:rPr dirty="0" sz="1000" spc="-10">
                <a:solidFill>
                  <a:srgbClr val="494949"/>
                </a:solidFill>
                <a:latin typeface="Arial MT"/>
                <a:cs typeface="Arial MT"/>
              </a:rPr>
              <a:t>tech</a:t>
            </a:r>
            <a:r>
              <a:rPr dirty="0" sz="1000" spc="-10">
                <a:solidFill>
                  <a:srgbClr val="3B3B3B"/>
                </a:solidFill>
                <a:latin typeface="Arial MT"/>
                <a:cs typeface="Arial MT"/>
              </a:rPr>
              <a:t>nology.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2026-03-15T09:41:10Z</dcterms:created>
  <dcterms:modified xsi:type="dcterms:W3CDTF">2026-03-15T09:41:10Z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2026-03-15T00:00:00Z</vt:filetime>
  </property>
  <property fmtid="{D5CDD505-2E9C-101B-9397-08002B2CF9AE}" pid="3" name="LastSaved">
    <vt:filetime>2026-03-15T00:00:00Z</vt:filetime>
  </property>
  <property fmtid="{D5CDD505-2E9C-101B-9397-08002B2CF9AE}" pid="4" name="Producer">
    <vt:lpwstr>iLovePDF</vt:lpwstr>
  </property>
</Properties>
</file>